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(MAD)</c:v>
                </c:pt>
              </c:strCache>
            </c:strRef>
          </c:tx>
          <c:spPr>
            <a:solidFill>
              <a:srgbClr val="0D6E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M6</c:v>
                  </c:pt>
                  <c:pt idx="4">
                    <c:v>M9</c:v>
                  </c:pt>
                  <c:pt idx="5">
                    <c:v>M12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4950</c:v>
                </c:pt>
                <c:pt idx="1">
                  <c:v>9900</c:v>
                </c:pt>
                <c:pt idx="2">
                  <c:v>19800</c:v>
                </c:pt>
                <c:pt idx="3">
                  <c:v>49500</c:v>
                </c:pt>
                <c:pt idx="4">
                  <c:v>99000</c:v>
                </c:pt>
                <c:pt idx="5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365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-1097280"/>
            <a:ext cx="3200400" cy="3200400"/>
          </a:xfrm>
          <a:prstGeom prst="ellipse">
            <a:avLst/>
          </a:prstGeom>
          <a:solidFill>
            <a:srgbClr val="1A9070">
              <a:alpha val="40000"/>
            </a:srgbClr>
          </a:solidFill>
          <a:ln w="12700">
            <a:solidFill>
              <a:srgbClr val="1A907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4DB896">
              <a:alpha val="30000"/>
            </a:srgbClr>
          </a:solidFill>
          <a:ln w="12700">
            <a:solidFill>
              <a:srgbClr val="4DB896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47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" y="10058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Décisionnelle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PMEs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2004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Marocaines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200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données. Vos décisions. En 48h.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60520" y="640080"/>
            <a:ext cx="2286000" cy="17373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60520" y="640080"/>
            <a:ext cx="54864" cy="173736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25112" y="9875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MAD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325112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/ mois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640080"/>
            <a:ext cx="2286000" cy="17373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75120" y="640080"/>
            <a:ext cx="54864" cy="173736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9875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839712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livraison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60520" y="2743200"/>
            <a:ext cx="2286000" cy="17373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160520" y="2743200"/>
            <a:ext cx="54864" cy="1737360"/>
          </a:xfrm>
          <a:prstGeom prst="rect">
            <a:avLst/>
          </a:prstGeom>
          <a:solidFill>
            <a:srgbClr val="1A9070"/>
          </a:solidFill>
          <a:ln w="12700">
            <a:solidFill>
              <a:srgbClr val="1A90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25112" y="30906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80 000+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325112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 cibles Maroc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75120" y="2743200"/>
            <a:ext cx="2286000" cy="173736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675120" y="2743200"/>
            <a:ext cx="54864" cy="173736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30906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MAD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6839712" y="3703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02336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2026  ·  Confidentiel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LE PROBLÈME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PilotBI  ·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PMEs marocaines pilotent à l'aveugle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64008" cy="804672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276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6928" y="19751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entreprises au Maroc sont des PMEs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60320"/>
            <a:ext cx="64008" cy="804672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6334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MAD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" y="2980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d'un projet BI classique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3657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64008" cy="804672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393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" y="39867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PMEs utilisent des outils BI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douleurs principales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075688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38928" y="20299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éparpillées dans des fichiers Excel non reliés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734056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38928" y="26883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profil data analyst disponible ou finançable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392424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38928" y="33467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stratégiques prises sur intuition, sans chiffres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050792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38928" y="4005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internationaux trop chers, trop complexes, en anglais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n'existe pas aujourd'hui de solution BI abordable, adaptée et opérationnelle pour les PMEs marocaines.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DB896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— PilotBI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vos données. Recevez vos insights en 48h. Décidez mieux.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54480" cy="2377440"/>
          </a:xfrm>
          <a:prstGeom prst="rect">
            <a:avLst/>
          </a:prstGeom>
          <a:solidFill>
            <a:srgbClr val="1A365D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7627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Google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Sheets, Odoo, Sage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251460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84832" y="1417320"/>
            <a:ext cx="1554480" cy="2377440"/>
          </a:xfrm>
          <a:prstGeom prst="rect">
            <a:avLst/>
          </a:prstGeom>
          <a:solidFill>
            <a:srgbClr val="1A365D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87752" y="1508760"/>
            <a:ext cx="548640" cy="548640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87752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72" y="217627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76272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130552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sur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activité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251460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49624" y="1417320"/>
            <a:ext cx="1554480" cy="2377440"/>
          </a:xfrm>
          <a:prstGeom prst="rect">
            <a:avLst/>
          </a:prstGeom>
          <a:solidFill>
            <a:srgbClr val="1A365D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52544" y="1508760"/>
            <a:ext cx="548640" cy="548640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352544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217627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41064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3895344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personnalisé 48h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536" y="2514600"/>
            <a:ext cx="201168" cy="20116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614416" y="1417320"/>
            <a:ext cx="1554480" cy="2377440"/>
          </a:xfrm>
          <a:prstGeom prst="rect">
            <a:avLst/>
          </a:prstGeom>
          <a:solidFill>
            <a:srgbClr val="1A365D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117336" y="1508760"/>
            <a:ext cx="548640" cy="548640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117336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176272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05856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IA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660136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Narratif mensuel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français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328" y="2514600"/>
            <a:ext cx="201168" cy="20116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379208" y="1417320"/>
            <a:ext cx="1554480" cy="2377440"/>
          </a:xfrm>
          <a:prstGeom prst="rect">
            <a:avLst/>
          </a:prstGeom>
          <a:solidFill>
            <a:srgbClr val="1A365D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882128" y="1508760"/>
            <a:ext cx="548640" cy="548640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7882128" y="1527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7848" y="2176272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70648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7424928" y="31089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20040" y="4005072"/>
            <a:ext cx="8503920" cy="896112"/>
          </a:xfrm>
          <a:prstGeom prst="rect">
            <a:avLst/>
          </a:prstGeom>
          <a:solidFill>
            <a:srgbClr val="0D6E5A">
              <a:alpha val="15000"/>
            </a:srgbClr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411480" y="4005072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3600" dirty="0"/>
          </a:p>
        </p:txBody>
      </p:sp>
      <p:sp>
        <p:nvSpPr>
          <p:cNvPr id="42" name="Text 31"/>
          <p:cNvSpPr/>
          <p:nvPr/>
        </p:nvSpPr>
        <p:spPr>
          <a:xfrm>
            <a:off x="685800" y="4078224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dirigeant se connecte une fois. Chaque mois, il reçoit un rapport en français qui lui dit exactement ce qui se passe dans son entreprise et les 3 actions prioritaires.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MARCHÉ &amp; OPPORTUNITÉ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PilotBI  · 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1965960" cy="82296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60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74904" y="1600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 formelles au Maroc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" y="20116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total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777240"/>
            <a:ext cx="1965960" cy="82296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960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80 000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23744" y="1600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 dans notre ciblage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3744" y="20116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10-200 salariés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777240"/>
            <a:ext cx="1965960" cy="82296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960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 Mrd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72584" y="1600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— marché potentiel 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20116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Starter seul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7772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777240"/>
            <a:ext cx="1965960" cy="82296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960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21424" y="160020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BI Afrique / 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21424" y="201168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2025–2030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cibles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3035808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3145536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Négoce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24612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absolue — densité maximale + douleur immédiate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0040" y="3511296"/>
            <a:ext cx="8503920" cy="420624"/>
          </a:xfrm>
          <a:prstGeom prst="rect">
            <a:avLst/>
          </a:prstGeom>
          <a:solidFill>
            <a:srgbClr val="F8FFFE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621024"/>
            <a:ext cx="201168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3152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Commerce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246120" y="3584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Multi-sites, besoin de consolidation des données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320040" y="3986784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096512"/>
            <a:ext cx="201168" cy="20116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31520" y="40599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B2B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324612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Agences, cabinets — pilotage activité récurrente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20040" y="4462272"/>
            <a:ext cx="8503920" cy="420624"/>
          </a:xfrm>
          <a:prstGeom prst="rect">
            <a:avLst/>
          </a:prstGeom>
          <a:solidFill>
            <a:srgbClr val="F8FFFE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572000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31520" y="4535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3246120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marges, fournisseurs, délais paiements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DB89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965960"/>
            <a:ext cx="3291840" cy="804672"/>
          </a:xfrm>
          <a:prstGeom prst="rect">
            <a:avLst/>
          </a:prstGeom>
          <a:solidFill>
            <a:srgbClr val="1A365D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965960"/>
            <a:ext cx="64008" cy="804672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391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86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MAD / mois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03911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Gérant PME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926080"/>
            <a:ext cx="3291840" cy="804672"/>
          </a:xfrm>
          <a:prstGeom prst="rect">
            <a:avLst/>
          </a:prstGeom>
          <a:solidFill>
            <a:srgbClr val="1A365D"/>
          </a:solidFill>
          <a:ln w="12700">
            <a:solidFill>
              <a:srgbClr val="E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926080"/>
            <a:ext cx="64008" cy="804672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99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1 990 MAD / mois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9992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 / Dir. Commercial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886200"/>
            <a:ext cx="3291840" cy="804672"/>
          </a:xfrm>
          <a:prstGeom prst="rect">
            <a:avLst/>
          </a:prstGeom>
          <a:solidFill>
            <a:srgbClr val="1A365D"/>
          </a:solidFill>
          <a:ln w="12700">
            <a:solidFill>
              <a:srgbClr val="4DB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886200"/>
            <a:ext cx="64008" cy="804672"/>
          </a:xfrm>
          <a:prstGeom prst="rect">
            <a:avLst/>
          </a:prstGeom>
          <a:solidFill>
            <a:srgbClr val="4DB896"/>
          </a:solidFill>
          <a:ln w="12700">
            <a:solidFill>
              <a:srgbClr val="4DB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59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306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3 490 MAD / mois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39593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50-200 salariés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60520" y="2926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de Revenus (MAD / mois)</a:t>
            </a:r>
            <a:endParaRPr lang="en-US" sz="14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0" y="777240"/>
          <a:ext cx="4709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4160520" y="4114800"/>
            <a:ext cx="1417320" cy="777240"/>
          </a:xfrm>
          <a:prstGeom prst="rect">
            <a:avLst/>
          </a:prstGeom>
          <a:solidFill>
            <a:srgbClr val="0D6E5A">
              <a:alpha val="15000"/>
            </a:srgbClr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06240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206240" y="45079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60720" y="4114800"/>
            <a:ext cx="1417320" cy="777240"/>
          </a:xfrm>
          <a:prstGeom prst="rect">
            <a:avLst/>
          </a:prstGeom>
          <a:solidFill>
            <a:srgbClr val="0D6E5A">
              <a:alpha val="15000"/>
            </a:srgbClr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×35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806440" y="45079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60920" y="4114800"/>
            <a:ext cx="1417320" cy="777240"/>
          </a:xfrm>
          <a:prstGeom prst="rect">
            <a:avLst/>
          </a:prstGeom>
          <a:solidFill>
            <a:srgbClr val="0D6E5A">
              <a:alpha val="15000"/>
            </a:srgbClr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06640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406640" y="45079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cible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GO-TO-MARKET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0" y="1097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PilotBI  · 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100% digitale — sans réseau local, sans terrain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64008" cy="146304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691640"/>
            <a:ext cx="548640" cy="548640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47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Organique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1545336"/>
            <a:ext cx="1143000" cy="274320"/>
          </a:xfrm>
          <a:prstGeom prst="rect">
            <a:avLst/>
          </a:prstGeom>
          <a:solidFill>
            <a:srgbClr val="0D6E5A">
              <a:alpha val="15000"/>
            </a:srgbClr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72968" y="156362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MAD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" y="189280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Posts Chaymae : dashboards, tips BI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3000" y="21945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Crédibilité BNP Paribas / OCP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43000" y="24963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 posts / semaine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09160" y="141732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09160" y="1417320"/>
            <a:ext cx="64008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73752" y="1691640"/>
            <a:ext cx="548640" cy="548640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64792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3212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Ads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589520" y="1545336"/>
            <a:ext cx="1143000" cy="274320"/>
          </a:xfrm>
          <a:prstGeom prst="rect">
            <a:avLst/>
          </a:prstGeom>
          <a:solidFill>
            <a:srgbClr val="16213E">
              <a:alpha val="15000"/>
            </a:srgbClr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62088" y="156362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1–2k MAD/mois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532120" y="189280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Ciblage DAF + Dir. Commercial Maroc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532120" y="219456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PMEs 10–200 salariés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532120" y="24963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CPC estimé : 8–15 MAD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20040" y="306324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20040" y="3063240"/>
            <a:ext cx="64008" cy="1463040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4632" y="3337560"/>
            <a:ext cx="548640" cy="548640"/>
          </a:xfrm>
          <a:prstGeom prst="ellipse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10712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14300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3200400" y="3191256"/>
            <a:ext cx="1143000" cy="274320"/>
          </a:xfrm>
          <a:prstGeom prst="rect">
            <a:avLst/>
          </a:prstGeom>
          <a:solidFill>
            <a:srgbClr val="E05C40">
              <a:alpha val="15000"/>
            </a:srgbClr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172968" y="32095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MAD/mois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1143000" y="35387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'Pilotez votre PME avec vos chiffres'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143000" y="38404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Démo gratuite 14 jours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1143000" y="41422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Facebook + Instagram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709160" y="306324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709160" y="3063240"/>
            <a:ext cx="64008" cy="1463040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873752" y="3337560"/>
            <a:ext cx="548640" cy="548640"/>
          </a:xfrm>
          <a:prstGeom prst="ellipse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410712"/>
            <a:ext cx="402336" cy="40233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532120" y="3154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Blog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7589520" y="3191256"/>
            <a:ext cx="1143000" cy="274320"/>
          </a:xfrm>
          <a:prstGeom prst="rect">
            <a:avLst/>
          </a:prstGeom>
          <a:solidFill>
            <a:srgbClr val="E9A825">
              <a:alpha val="15000"/>
            </a:srgbClr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562088" y="3209544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MAD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5532120" y="353872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'Tableau de bord PME Maroc'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5532120" y="38404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Articles FR long-tail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5532120" y="414223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Trafic passif permanent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457200" y="4690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Validation : 5 contacts LinkedIn → 3 oui → on code. Zéro ligne de code avant cette confirmation.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6E5A">
              <a:alpha val="12000"/>
            </a:srgbClr>
          </a:solidFill>
          <a:ln w="12700">
            <a:solidFill>
              <a:srgbClr val="0D6E5A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DB89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Fondatrice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profils complémentaires — un seul angle mort : aucun.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069080" cy="3291840"/>
          </a:xfrm>
          <a:prstGeom prst="rect">
            <a:avLst/>
          </a:prstGeom>
          <a:solidFill>
            <a:srgbClr val="1A365D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4069080" cy="73152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72768"/>
            <a:ext cx="822960" cy="822960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9164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536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Chaymae Kachiche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0876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Co-fondatrice  ·  CTO / Directrice Produit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2350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Ingénieure d'État ENSIAS — e-Management &amp; BI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63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2788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ans : SQLI, BNP Paribas, D&amp;A Technologies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5526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" y="32278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: OCP Africa, Orange Group, CIH Banque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94176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3232" y="36667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Certified · Python · SQL · ETL · Figma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3308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3232" y="41056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des KPIs réglementaires BAM (ALM, LCR)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4754880" y="1371600"/>
            <a:ext cx="4069080" cy="3291840"/>
          </a:xfrm>
          <a:prstGeom prst="rect">
            <a:avLst/>
          </a:prstGeom>
          <a:solidFill>
            <a:srgbClr val="1A365D"/>
          </a:solidFill>
          <a:ln w="12700">
            <a:solidFill>
              <a:srgbClr val="E9A825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4754880" y="1371600"/>
            <a:ext cx="4069080" cy="73152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4983480" y="1572768"/>
            <a:ext cx="822960" cy="822960"/>
          </a:xfrm>
          <a:prstGeom prst="ellipse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1691640"/>
            <a:ext cx="594360" cy="5943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925312" y="15361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L'Associée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5925312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Co-fondatrice  ·  CMO / Directrice Commerciale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377440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48072" y="2350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prouvée en commercialisation SaaS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816352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48072" y="27889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des canaux d'acquisition digitaux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255264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148072" y="32278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 du marché SaaS B2B francophone</a:t>
            </a:r>
            <a:endParaRPr lang="en-US" sz="11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694176"/>
            <a:ext cx="182880" cy="18288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5148072" y="36667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MVP via Claude Code (IA)</a:t>
            </a:r>
            <a:endParaRPr lang="en-US" sz="11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4133088"/>
            <a:ext cx="182880" cy="18288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148072" y="41056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produit, Stripe, onboarding, métriques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ROADMAP — 12 SEMAINES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d'exécution en side hustle — 10h / semaine chacune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8412480" cy="54864"/>
          </a:xfrm>
          <a:prstGeom prst="rect">
            <a:avLst/>
          </a:prstGeom>
          <a:solidFill>
            <a:srgbClr val="1A9070"/>
          </a:solidFill>
          <a:ln w="12700">
            <a:solidFill>
              <a:srgbClr val="1A9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408176"/>
            <a:ext cx="256032" cy="256032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103120" cy="73152"/>
          </a:xfrm>
          <a:prstGeom prst="rect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1984248"/>
            <a:ext cx="475488" cy="475488"/>
          </a:xfrm>
          <a:prstGeom prst="ellipse">
            <a:avLst/>
          </a:prstGeom>
          <a:solidFill>
            <a:srgbClr val="0D6E5A"/>
          </a:solidFill>
          <a:ln w="12700">
            <a:solidFill>
              <a:srgbClr val="0D6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0253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6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 contacts LinkedIn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Test message 3 lignes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97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 oui = on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1408176"/>
            <a:ext cx="256032" cy="256032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1828800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1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828800"/>
            <a:ext cx="2103120" cy="7315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84248"/>
            <a:ext cx="475488" cy="475488"/>
          </a:xfrm>
          <a:prstGeom prst="ellipse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00253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51460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S3–S6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1460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3429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Claude Code (interface)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06040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Modèles data Chaymae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4197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Beta version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9240" y="1408176"/>
            <a:ext cx="256032" cy="256032"/>
          </a:xfrm>
          <a:prstGeom prst="ellipse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828800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828800"/>
            <a:ext cx="2103120" cy="73152"/>
          </a:xfrm>
          <a:prstGeom prst="rect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76088" y="1984248"/>
            <a:ext cx="475488" cy="475488"/>
          </a:xfrm>
          <a:prstGeom prst="ellipse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76088" y="200253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S7–S10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3429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5 testeurs réels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Itérations produit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197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 clients prêts à payer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98080" y="1408176"/>
            <a:ext cx="256032" cy="256032"/>
          </a:xfrm>
          <a:prstGeom prst="ellipse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1828800"/>
            <a:ext cx="2103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C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66560" y="1828800"/>
            <a:ext cx="2103120" cy="73152"/>
          </a:xfrm>
          <a:prstGeom prst="rect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24928" y="1984248"/>
            <a:ext cx="475488" cy="475488"/>
          </a:xfrm>
          <a:prstGeom prst="ellipse">
            <a:avLst/>
          </a:prstGeom>
          <a:solidFill>
            <a:srgbClr val="E05C40"/>
          </a:solidFill>
          <a:ln w="12700">
            <a:solidFill>
              <a:srgbClr val="E05C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200253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1228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S11–S12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12280" y="28529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3429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Landing page live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03720" y="38130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Ads LinkedIn + Meta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03720" y="41970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Objectif : 5 clients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6402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sortie du side hustle : MRR &gt; 30 000 MAD stables pendant 3 mois → évaluation passage temps plein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6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A9070">
              <a:alpha val="30000"/>
            </a:srgbClr>
          </a:solidFill>
          <a:ln w="12700">
            <a:solidFill>
              <a:srgbClr val="1A907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1A1A2E">
              <a:alpha val="20000"/>
            </a:srgbClr>
          </a:solidFill>
          <a:ln w="12700">
            <a:solidFill>
              <a:srgbClr val="1A1A2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PROCHAINES ÉTAPES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cette semaine.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avant de construire. Construire ce qui fonctionne.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75320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313432"/>
            <a:ext cx="457200" cy="457200"/>
          </a:xfrm>
          <a:prstGeom prst="ellipse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317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231136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Chaymae identifie 5 contacts : DAF, Dir. Commercial, DG de PMEs dans son réseau LinkedIn.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8275320" cy="749808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" y="3209544"/>
            <a:ext cx="457200" cy="457200"/>
          </a:xfrm>
          <a:prstGeom prst="ellipse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2278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127248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L'Associée rédige le message de test (3 lignes) et l'envoie aux 5 contacts.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827532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4105656"/>
            <a:ext cx="457200" cy="457200"/>
          </a:xfrm>
          <a:prstGeom prst="ellipse">
            <a:avLst/>
          </a:prstGeom>
          <a:solidFill>
            <a:srgbClr val="E9A825"/>
          </a:solidFill>
          <a:ln w="12700">
            <a:solidFill>
              <a:srgbClr val="E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12394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réponses positives = on construit le MVP. Pas de code avant cette validation.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183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PilotBI  ·  Chaymae Kachiche &amp; Associée  ·  Avril 2026  ·  Confidentiel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PilotBI — Pitch Deck 2026</dc:title>
  <dc:subject>PptxGenJS Presentation</dc:subject>
  <dc:creator>Chaymae Kachiche &amp; Associée</dc:creator>
  <cp:lastModifiedBy>Chaymae Kachiche &amp; Associée</cp:lastModifiedBy>
  <cp:revision>1</cp:revision>
  <dcterms:created xsi:type="dcterms:W3CDTF">2026-04-06T20:03:39Z</dcterms:created>
  <dcterms:modified xsi:type="dcterms:W3CDTF">2026-04-06T20:03:39Z</dcterms:modified>
</cp:coreProperties>
</file>